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c4099119e44340" /><Relationship Type="http://schemas.openxmlformats.org/officeDocument/2006/relationships/extended-properties" Target="/docProps/app.xml" Id="R9101ff91b7584325" /><Relationship Type="http://schemas.openxmlformats.org/officeDocument/2006/relationships/officeDocument" Target="/ppt/presentation.xml" Id="R721437a993d140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a199d8b414ef3"/>
  </p:sldMasterIdLst>
  <p:notesMasterIdLst>
    <p:notesMasterId xmlns:r="http://schemas.openxmlformats.org/officeDocument/2006/relationships" r:id="Rbbadf06cbf2d42df"/>
  </p:notesMasterIdLst>
  <p:sldIdLst>
    <p:sldId xmlns:r="http://schemas.openxmlformats.org/officeDocument/2006/relationships" id="256" r:id="R6845775496724b3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731c10d5604c73" /><Relationship Type="http://schemas.openxmlformats.org/officeDocument/2006/relationships/slideMaster" Target="/ppt/slideMasters/slideMaster1.xml" Id="Rc6ea199d8b414ef3" /><Relationship Type="http://schemas.openxmlformats.org/officeDocument/2006/relationships/notesMaster" Target="/ppt/notesMasters/notesMaster1.xml" Id="Rbbadf06cbf2d42df" /><Relationship Type="http://schemas.openxmlformats.org/officeDocument/2006/relationships/presProps" Target="/ppt/presProps.xml" Id="R45185f9069eb4a85" /><Relationship Type="http://schemas.openxmlformats.org/officeDocument/2006/relationships/tableStyles" Target="/ppt/tableStyles.xml" Id="Rb87ceae873814909" /><Relationship Type="http://schemas.openxmlformats.org/officeDocument/2006/relationships/slide" Target="/ppt/slides/slide1.xml" Id="R684577549672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3f4452c2647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80975" dist="69343" dir="4443276">
              <a:srgbClr val="2E6FC3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d5ded623ca41f1" /><Relationship Type="http://schemas.openxmlformats.org/officeDocument/2006/relationships/notesMaster" Target="/ppt/notesMasters/notesMaster1.xml" Id="R1c678f44a1144a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内容依据用户提供的“远景模式”单页截图。性能优化覆盖范围、端侧重点与算力管控条件均按原始资料保留。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d6334a6b342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e6a2c64da48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444898c8494c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d8d78c9364d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60c34fdbe42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2a309d2ed40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52D545-0149-42CB-9639-F376FE6CC2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501B28-B40E-4ADB-9EBE-50C190F8A7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F0B5E9-CCCB-409A-A4D8-9182A94EB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A84D13-CF93-4D9F-ADF2-DB6CFC0E1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817A7C-EB97-447B-AE0A-E229CBC14F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4674AD-AC78-45B2-8E7C-D5D25E977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412652-9902-43A1-8C07-7AF3D2069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C58EEB-C722-4F15-8966-84F27748F9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2D1A0D-1C24-434D-91CA-17680FF16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8DD2A9-8D43-4E71-966E-D90D721CF4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c211685c794d4f" /><Relationship Type="http://schemas.openxmlformats.org/officeDocument/2006/relationships/slideLayout" Target="/ppt/slideLayouts/slideLayout1.xml" Id="R30647c65a4df44c0" /><Relationship Type="http://schemas.openxmlformats.org/officeDocument/2006/relationships/slideLayout" Target="/ppt/slideLayouts/slideLayout2.xml" Id="R73da201284924e18" /><Relationship Type="http://schemas.openxmlformats.org/officeDocument/2006/relationships/slideLayout" Target="/ppt/slideLayouts/slideLayout3.xml" Id="Re188c4e85f9a4968" /><Relationship Type="http://schemas.openxmlformats.org/officeDocument/2006/relationships/slideLayout" Target="/ppt/slideLayouts/slideLayout4.xml" Id="Rdb86a731ed2b46d9" /><Relationship Type="http://schemas.openxmlformats.org/officeDocument/2006/relationships/slideLayout" Target="/ppt/slideLayouts/slideLayout5.xml" Id="R7df04b150d634f83" /><Relationship Type="http://schemas.openxmlformats.org/officeDocument/2006/relationships/slideLayout" Target="/ppt/slideLayouts/slideLayout6.xml" Id="Rf833247e97cf41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647c65a4df44c0"/>
    <p:sldLayoutId xmlns:r="http://schemas.openxmlformats.org/officeDocument/2006/relationships" id="2147483650" r:id="R73da201284924e18"/>
    <p:sldLayoutId xmlns:r="http://schemas.openxmlformats.org/officeDocument/2006/relationships" id="2147483651" r:id="Re188c4e85f9a4968"/>
    <p:sldLayoutId xmlns:r="http://schemas.openxmlformats.org/officeDocument/2006/relationships" id="2147483652" r:id="Rdb86a731ed2b46d9"/>
    <p:sldLayoutId xmlns:r="http://schemas.openxmlformats.org/officeDocument/2006/relationships" id="2147483653" r:id="R7df04b150d634f83"/>
    <p:sldLayoutId xmlns:r="http://schemas.openxmlformats.org/officeDocument/2006/relationships" id="2147483654" r:id="Rf833247e97cf41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80975" dist="69343" dir="4443276">
              <a:srgbClr val="2E6FC3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53a53e0564f90" /><Relationship Type="http://schemas.openxmlformats.org/officeDocument/2006/relationships/image" Target="/ppt/media/image.png" Id="R186cfdeb14474d57" /><Relationship Type="http://schemas.openxmlformats.org/officeDocument/2006/relationships/image" Target="/ppt/media/image2.png" Id="Rdb1d7dfe3eaa41b1" /><Relationship Type="http://schemas.openxmlformats.org/officeDocument/2006/relationships/notesSlide" Target="/ppt/notesSlides/notesSlide1.xml" Id="R63c217e959ce4f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标题后置紫色块">
            <a:extLst xmlns:a="http://schemas.openxmlformats.org/drawingml/2006/main">
              <a:ext uri="{FF2B5EF4-FFF2-40B4-BE49-F238E27FC236}">
                <a16:creationId xmlns:a16="http://schemas.microsoft.com/office/drawing/2014/main" id="{FE80C465-E634-4122-B4ED-2401BE6C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"/>
            <a:ext cx="466725" cy="46672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4B0F0"/>
              </a:gs>
              <a:gs pos="100000">
                <a:srgbClr val="552176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标题前置蓝色块">
            <a:extLst xmlns:a="http://schemas.openxmlformats.org/drawingml/2006/main">
              <a:ext uri="{FF2B5EF4-FFF2-40B4-BE49-F238E27FC236}">
                <a16:creationId xmlns:a16="http://schemas.microsoft.com/office/drawing/2014/main" id="{6E09E3C7-F2B0-41C7-9A7D-D051A7AB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457200" cy="4476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18AE1"/>
              </a:gs>
              <a:gs pos="100000">
                <a:srgbClr val="00619E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D303B6A3-1D6B-4682-990F-977AC6CE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7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远景模式</a:t>
            </a:r>
          </a:p>
        </p:txBody>
      </p:sp>
      <p:sp>
        <p:nvSpPr>
          <p:cNvPr id="4" name="页眉蓝色斜杠1">
            <a:extLst xmlns:a="http://schemas.openxmlformats.org/drawingml/2006/main">
              <a:ext uri="{FF2B5EF4-FFF2-40B4-BE49-F238E27FC236}">
                <a16:creationId xmlns:a16="http://schemas.microsoft.com/office/drawing/2014/main" id="{AF2B7C50-2FE9-4D11-9282-C6C9DE43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04900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66675" y="0"/>
                </a:lnTo>
                <a:lnTo>
                  <a:pt x="95250" y="85725"/>
                </a:lnTo>
                <a:lnTo>
                  <a:pt x="28575" y="85725"/>
                </a:lnTo>
                <a:close/>
              </a:path>
            </a:pathLst>
          </a:custGeom>
          <a:solidFill xmlns:a="http://schemas.openxmlformats.org/drawingml/2006/main">
            <a:srgbClr val="028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页眉蓝色斜杠2">
            <a:extLst xmlns:a="http://schemas.openxmlformats.org/drawingml/2006/main">
              <a:ext uri="{FF2B5EF4-FFF2-40B4-BE49-F238E27FC236}">
                <a16:creationId xmlns:a16="http://schemas.microsoft.com/office/drawing/2014/main" id="{FD479FE9-09BD-4B62-A84E-8112FC34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104900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66675" y="0"/>
                </a:lnTo>
                <a:lnTo>
                  <a:pt x="95250" y="85725"/>
                </a:lnTo>
                <a:lnTo>
                  <a:pt x="28575" y="85725"/>
                </a:lnTo>
                <a:close/>
              </a:path>
            </a:pathLst>
          </a:custGeom>
          <a:solidFill xmlns:a="http://schemas.openxmlformats.org/drawingml/2006/main">
            <a:srgbClr val="028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页眉蓝色斜杠3">
            <a:extLst xmlns:a="http://schemas.openxmlformats.org/drawingml/2006/main">
              <a:ext uri="{FF2B5EF4-FFF2-40B4-BE49-F238E27FC236}">
                <a16:creationId xmlns:a16="http://schemas.microsoft.com/office/drawing/2014/main" id="{184FC812-676E-4770-A785-169F53F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104900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66675" y="0"/>
                </a:lnTo>
                <a:lnTo>
                  <a:pt x="95250" y="85725"/>
                </a:lnTo>
                <a:lnTo>
                  <a:pt x="28575" y="85725"/>
                </a:lnTo>
                <a:close/>
              </a:path>
            </a:pathLst>
          </a:custGeom>
          <a:solidFill xmlns:a="http://schemas.openxmlformats.org/drawingml/2006/main">
            <a:srgbClr val="028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页眉蓝色斜杠4">
            <a:extLst xmlns:a="http://schemas.openxmlformats.org/drawingml/2006/main">
              <a:ext uri="{FF2B5EF4-FFF2-40B4-BE49-F238E27FC236}">
                <a16:creationId xmlns:a16="http://schemas.microsoft.com/office/drawing/2014/main" id="{B2EF2346-43ED-4FA6-BB72-999BED1C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104900"/>
            <a:ext cx="95250" cy="85725"/>
          </a:xfrm>
          <a:custGeom xmlns:a="http://schemas.openxmlformats.org/drawingml/2006/main">
            <a:pathLst>
              <a:path w="95250" h="85725">
                <a:moveTo>
                  <a:pt x="0" y="0"/>
                </a:moveTo>
                <a:lnTo>
                  <a:pt x="66675" y="0"/>
                </a:lnTo>
                <a:lnTo>
                  <a:pt x="95250" y="85725"/>
                </a:lnTo>
                <a:lnTo>
                  <a:pt x="28575" y="85725"/>
                </a:lnTo>
                <a:close/>
              </a:path>
            </a:pathLst>
          </a:custGeom>
          <a:solidFill xmlns:a="http://schemas.openxmlformats.org/drawingml/2006/main">
            <a:srgbClr val="028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页眉蓝色横线">
            <a:extLst xmlns:a="http://schemas.openxmlformats.org/drawingml/2006/main">
              <a:ext uri="{FF2B5EF4-FFF2-40B4-BE49-F238E27FC236}">
                <a16:creationId xmlns:a16="http://schemas.microsoft.com/office/drawing/2014/main" id="{9E5B4956-BE4E-4CEA-8AE9-687F044F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143000"/>
            <a:ext cx="1342072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右上角浅紫波浪">
            <a:extLst xmlns:a="http://schemas.openxmlformats.org/drawingml/2006/main">
              <a:ext uri="{FF2B5EF4-FFF2-40B4-BE49-F238E27FC236}">
                <a16:creationId xmlns:a16="http://schemas.microsoft.com/office/drawing/2014/main" id="{12694DF4-C25C-4034-AB35-913470A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0"/>
            <a:ext cx="2667000" cy="1714500"/>
          </a:xfrm>
          <a:custGeom xmlns:a="http://schemas.openxmlformats.org/drawingml/2006/main">
            <a:pathLst>
              <a:path w="2667000" h="1714500">
                <a:moveTo>
                  <a:pt x="0" y="0"/>
                </a:moveTo>
                <a:lnTo>
                  <a:pt x="2667000" y="0"/>
                </a:lnTo>
                <a:lnTo>
                  <a:pt x="2667000" y="1714500"/>
                </a:lnTo>
                <a:cubicBezTo>
                  <a:pt x="2095500" y="666750"/>
                  <a:pt x="342900" y="762000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E8DEFF"/>
              </a:gs>
              <a:gs pos="100000">
                <a:srgbClr val="EFF2FF"/>
              </a:gs>
            </a:gsLst>
            <a:lin ang="2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右上角蓝紫波浪">
            <a:extLst xmlns:a="http://schemas.openxmlformats.org/drawingml/2006/main">
              <a:ext uri="{FF2B5EF4-FFF2-40B4-BE49-F238E27FC236}">
                <a16:creationId xmlns:a16="http://schemas.microsoft.com/office/drawing/2014/main" id="{4CD1595B-9E2E-4ACE-88CC-979ED0D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0"/>
            <a:ext cx="1638300" cy="981075"/>
          </a:xfrm>
          <a:custGeom xmlns:a="http://schemas.openxmlformats.org/drawingml/2006/main">
            <a:pathLst>
              <a:path w="1638300" h="981075">
                <a:moveTo>
                  <a:pt x="0" y="0"/>
                </a:moveTo>
                <a:lnTo>
                  <a:pt x="1638300" y="0"/>
                </a:lnTo>
                <a:lnTo>
                  <a:pt x="1638300" y="981075"/>
                </a:lnTo>
                <a:cubicBezTo>
                  <a:pt x="1095375" y="523875"/>
                  <a:pt x="171450" y="676275"/>
                  <a:pt x="0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8648FF"/>
              </a:gs>
              <a:gs pos="100000">
                <a:srgbClr val="3E78F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核心主张">
            <a:extLst xmlns:a="http://schemas.openxmlformats.org/drawingml/2006/main">
              <a:ext uri="{FF2B5EF4-FFF2-40B4-BE49-F238E27FC236}">
                <a16:creationId xmlns:a16="http://schemas.microsoft.com/office/drawing/2014/main" id="{D3DA9AB4-566A-41B1-9EA8-719B0174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43025"/>
            <a:ext cx="1038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7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释放芯片的极限潜能，综合服务业务实体</a:t>
            </a:r>
          </a:p>
        </p:txBody>
      </p:sp>
      <p:sp>
        <p:nvSpPr>
          <p:cNvPr id="12" name="漏斗_联合运营">
            <a:extLst xmlns:a="http://schemas.openxmlformats.org/drawingml/2006/main">
              <a:ext uri="{FF2B5EF4-FFF2-40B4-BE49-F238E27FC236}">
                <a16:creationId xmlns:a16="http://schemas.microsoft.com/office/drawing/2014/main" id="{0FDF4AA1-3AA6-4686-A5D0-C0644D8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4257675" cy="1543050"/>
          </a:xfrm>
          <a:custGeom xmlns:a="http://schemas.openxmlformats.org/drawingml/2006/main">
            <a:pathLst>
              <a:path w="4257675" h="1543050">
                <a:moveTo>
                  <a:pt x="0" y="0"/>
                </a:moveTo>
                <a:lnTo>
                  <a:pt x="4257675" y="0"/>
                </a:lnTo>
                <a:lnTo>
                  <a:pt x="3676650" y="1543050"/>
                </a:lnTo>
                <a:lnTo>
                  <a:pt x="590550" y="154305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5DDFF"/>
              </a:gs>
              <a:gs pos="100000">
                <a:srgbClr val="A7D1FF"/>
              </a:gs>
            </a:gsLst>
            <a:lin ang="69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漏斗_性能优化">
            <a:extLst xmlns:a="http://schemas.openxmlformats.org/drawingml/2006/main">
              <a:ext uri="{FF2B5EF4-FFF2-40B4-BE49-F238E27FC236}">
                <a16:creationId xmlns:a16="http://schemas.microsoft.com/office/drawing/2014/main" id="{BDCFF395-3FA9-45AA-BC92-44F2F6BC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38575"/>
            <a:ext cx="3057525" cy="1743075"/>
          </a:xfrm>
          <a:custGeom xmlns:a="http://schemas.openxmlformats.org/drawingml/2006/main">
            <a:pathLst>
              <a:path w="3057525" h="1743075">
                <a:moveTo>
                  <a:pt x="0" y="0"/>
                </a:moveTo>
                <a:lnTo>
                  <a:pt x="3057525" y="0"/>
                </a:lnTo>
                <a:lnTo>
                  <a:pt x="2381250" y="1743075"/>
                </a:lnTo>
                <a:lnTo>
                  <a:pt x="657225" y="17430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0678FF"/>
              </a:gs>
              <a:gs pos="100000">
                <a:srgbClr val="294FFF"/>
              </a:gs>
            </a:gsLst>
            <a:lin ang="60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漏斗_Token工厂算力管控">
            <a:extLst xmlns:a="http://schemas.openxmlformats.org/drawingml/2006/main">
              <a:ext uri="{FF2B5EF4-FFF2-40B4-BE49-F238E27FC236}">
                <a16:creationId xmlns:a16="http://schemas.microsoft.com/office/drawing/2014/main" id="{79AFAFE1-2099-44DD-8950-28973296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67375"/>
            <a:ext cx="1752600" cy="2428875"/>
          </a:xfrm>
          <a:custGeom xmlns:a="http://schemas.openxmlformats.org/drawingml/2006/main">
            <a:pathLst>
              <a:path w="1752600" h="2428875">
                <a:moveTo>
                  <a:pt x="0" y="0"/>
                </a:moveTo>
                <a:lnTo>
                  <a:pt x="1752600" y="0"/>
                </a:lnTo>
                <a:lnTo>
                  <a:pt x="933450" y="2428875"/>
                </a:lnTo>
                <a:lnTo>
                  <a:pt x="828675" y="24288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62C8E"/>
              </a:gs>
              <a:gs pos="100000">
                <a:srgbClr val="727CF4"/>
              </a:gs>
            </a:gsLst>
            <a:lin ang="5100000"/>
          </a:gra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漏斗标签_联合运营">
            <a:extLst xmlns:a="http://schemas.openxmlformats.org/drawingml/2006/main">
              <a:ext uri="{FF2B5EF4-FFF2-40B4-BE49-F238E27FC236}">
                <a16:creationId xmlns:a16="http://schemas.microsoft.com/office/drawing/2014/main" id="{A1C02C96-D932-4BD5-96AC-3E3E2740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联合运营</a:t>
            </a:r>
          </a:p>
        </p:txBody>
      </p:sp>
      <p:sp>
        <p:nvSpPr>
          <p:cNvPr id="16" name="漏斗标签_性能优化">
            <a:extLst xmlns:a="http://schemas.openxmlformats.org/drawingml/2006/main">
              <a:ext uri="{FF2B5EF4-FFF2-40B4-BE49-F238E27FC236}">
                <a16:creationId xmlns:a16="http://schemas.microsoft.com/office/drawing/2014/main" id="{81038EEA-DCEF-4D19-ACAF-2C7126F9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2457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性能优化</a:t>
            </a:r>
          </a:p>
        </p:txBody>
      </p:sp>
      <p:sp>
        <p:nvSpPr>
          <p:cNvPr id="17" name="漏斗标签_Token工厂">
            <a:extLst xmlns:a="http://schemas.openxmlformats.org/drawingml/2006/main">
              <a:ext uri="{FF2B5EF4-FFF2-40B4-BE49-F238E27FC236}">
                <a16:creationId xmlns:a16="http://schemas.microsoft.com/office/drawing/2014/main" id="{B1BB5F84-AAAA-40F8-A9C7-4143EF51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9436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Token工厂</a:t>
            </a:r>
          </a:p>
        </p:txBody>
      </p:sp>
      <p:sp>
        <p:nvSpPr>
          <p:cNvPr id="18" name="漏斗标签_算力管控">
            <a:extLst xmlns:a="http://schemas.openxmlformats.org/drawingml/2006/main">
              <a:ext uri="{FF2B5EF4-FFF2-40B4-BE49-F238E27FC236}">
                <a16:creationId xmlns:a16="http://schemas.microsoft.com/office/drawing/2014/main" id="{0ECB5D7F-80CA-49BB-8D79-84905A2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3531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算力管控</a:t>
            </a:r>
          </a:p>
        </p:txBody>
      </p:sp>
      <p:sp>
        <p:nvSpPr>
          <p:cNvPr id="19" name="联合运营内容标识">
            <a:extLst xmlns:a="http://schemas.openxmlformats.org/drawingml/2006/main">
              <a:ext uri="{FF2B5EF4-FFF2-40B4-BE49-F238E27FC236}">
                <a16:creationId xmlns:a16="http://schemas.microsoft.com/office/drawing/2014/main" id="{C70EC084-E2D7-42EC-A51A-F034B81A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24125"/>
            <a:ext cx="152400" cy="8858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C1DDFF"/>
              </a:gs>
              <a:gs pos="100000">
                <a:srgbClr val="8EC7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0" name="联合运营项目符号1">
            <a:extLst xmlns:a="http://schemas.openxmlformats.org/drawingml/2006/main">
              <a:ext uri="{FF2B5EF4-FFF2-40B4-BE49-F238E27FC236}">
                <a16:creationId xmlns:a16="http://schemas.microsoft.com/office/drawing/2014/main" id="{0BFDE882-7638-4678-AA4B-2E5A9329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联合运营项目符号2">
            <a:extLst xmlns:a="http://schemas.openxmlformats.org/drawingml/2006/main">
              <a:ext uri="{FF2B5EF4-FFF2-40B4-BE49-F238E27FC236}">
                <a16:creationId xmlns:a16="http://schemas.microsoft.com/office/drawing/2014/main" id="{AAF15EC4-F159-4CFD-93AC-B7035B2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联合运营_多方合作">
            <a:extLst xmlns:a="http://schemas.openxmlformats.org/drawingml/2006/main">
              <a:ext uri="{FF2B5EF4-FFF2-40B4-BE49-F238E27FC236}">
                <a16:creationId xmlns:a16="http://schemas.microsoft.com/office/drawing/2014/main" id="{837AAF33-0BC8-4082-B84B-6A9638D0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14600"/>
            <a:ext cx="9048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6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6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建设方 + 性能优化方 + 运营方，多方实现综合“联合运营”</a:t>
            </a:r>
          </a:p>
        </p:txBody>
      </p:sp>
      <p:sp>
        <p:nvSpPr>
          <p:cNvPr id="23" name="联合运营_股权配置">
            <a:extLst xmlns:a="http://schemas.openxmlformats.org/drawingml/2006/main">
              <a:ext uri="{FF2B5EF4-FFF2-40B4-BE49-F238E27FC236}">
                <a16:creationId xmlns:a16="http://schemas.microsoft.com/office/drawing/2014/main" id="{1E98186F-0D0A-4C83-A859-6C9BA4F7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003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6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6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通过股权配置设立联合子公司，打造专业/高性能/高商用的Token工厂</a:t>
            </a:r>
          </a:p>
        </p:txBody>
      </p:sp>
      <p:sp>
        <p:nvSpPr>
          <p:cNvPr id="24" name="运营与优化分隔线">
            <a:extLst xmlns:a="http://schemas.openxmlformats.org/drawingml/2006/main">
              <a:ext uri="{FF2B5EF4-FFF2-40B4-BE49-F238E27FC236}">
                <a16:creationId xmlns:a16="http://schemas.microsoft.com/office/drawing/2014/main" id="{871B0185-7FA5-4F13-8A85-BC3F8FB0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05225"/>
            <a:ext cx="10353675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性能优化内容标识">
            <a:extLst xmlns:a="http://schemas.openxmlformats.org/drawingml/2006/main">
              <a:ext uri="{FF2B5EF4-FFF2-40B4-BE49-F238E27FC236}">
                <a16:creationId xmlns:a16="http://schemas.microsoft.com/office/drawing/2014/main" id="{DAD62112-0AE5-4DC5-8C8C-7760957B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971925"/>
            <a:ext cx="152400" cy="139065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49CFF"/>
              </a:gs>
              <a:gs pos="100000">
                <a:srgbClr val="3761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6" name="性能优化项目符号">
            <a:extLst xmlns:a="http://schemas.openxmlformats.org/drawingml/2006/main">
              <a:ext uri="{FF2B5EF4-FFF2-40B4-BE49-F238E27FC236}">
                <a16:creationId xmlns:a16="http://schemas.microsoft.com/office/drawing/2014/main" id="{EDE624BB-60A3-4CD9-B432-1B042BCC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性能优化_覆盖范围第一行">
            <a:extLst xmlns:a="http://schemas.openxmlformats.org/drawingml/2006/main">
              <a:ext uri="{FF2B5EF4-FFF2-40B4-BE49-F238E27FC236}">
                <a16:creationId xmlns:a16="http://schemas.microsoft.com/office/drawing/2014/main" id="{CD65C580-9FEF-4517-B303-A3C39A09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895725"/>
            <a:ext cx="904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覆盖云端服务器（CPU/GPU/NPU等，枢纽端）、工控端与机器人本体</a:t>
            </a:r>
          </a:p>
        </p:txBody>
      </p:sp>
      <p:sp>
        <p:nvSpPr>
          <p:cNvPr id="28" name="性能优化_覆盖范围第二行">
            <a:extLst xmlns:a="http://schemas.openxmlformats.org/drawingml/2006/main">
              <a:ext uri="{FF2B5EF4-FFF2-40B4-BE49-F238E27FC236}">
                <a16:creationId xmlns:a16="http://schemas.microsoft.com/office/drawing/2014/main" id="{57CA883B-1FFE-4DFB-9F57-D85253CB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295775"/>
            <a:ext cx="904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（边缘端）的异构算力栈深度优化</a:t>
            </a:r>
          </a:p>
        </p:txBody>
      </p:sp>
      <p:sp>
        <p:nvSpPr>
          <p:cNvPr id="29" name="端侧重点背景1">
            <a:extLst xmlns:a="http://schemas.openxmlformats.org/drawingml/2006/main">
              <a:ext uri="{FF2B5EF4-FFF2-40B4-BE49-F238E27FC236}">
                <a16:creationId xmlns:a16="http://schemas.microsoft.com/office/drawing/2014/main" id="{7D683677-21CF-4E56-A5B8-E74AEC44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733925"/>
            <a:ext cx="250507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0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端侧名称1">
            <a:extLst xmlns:a="http://schemas.openxmlformats.org/drawingml/2006/main">
              <a:ext uri="{FF2B5EF4-FFF2-40B4-BE49-F238E27FC236}">
                <a16:creationId xmlns:a16="http://schemas.microsoft.com/office/drawing/2014/main" id="{F0F5EB51-4CA1-40FA-8CF1-D18D359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1419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服务器端</a:t>
            </a:r>
          </a:p>
        </p:txBody>
      </p:sp>
      <p:sp>
        <p:nvSpPr>
          <p:cNvPr id="31" name="端侧重点1">
            <a:extLst xmlns:a="http://schemas.openxmlformats.org/drawingml/2006/main">
              <a:ext uri="{FF2B5EF4-FFF2-40B4-BE49-F238E27FC236}">
                <a16:creationId xmlns:a16="http://schemas.microsoft.com/office/drawing/2014/main" id="{F7D4C196-C1FC-4A65-B2A5-132BB0EA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53025"/>
            <a:ext cx="1419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调度/吞吐</a:t>
            </a:r>
          </a:p>
        </p:txBody>
      </p:sp>
      <p:sp>
        <p:nvSpPr>
          <p:cNvPr id="32" name="端侧重点背景2">
            <a:extLst xmlns:a="http://schemas.openxmlformats.org/drawingml/2006/main">
              <a:ext uri="{FF2B5EF4-FFF2-40B4-BE49-F238E27FC236}">
                <a16:creationId xmlns:a16="http://schemas.microsoft.com/office/drawing/2014/main" id="{90EB5775-22AF-42F3-AFFB-6A9899FA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733925"/>
            <a:ext cx="2857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0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端侧名称2">
            <a:extLst xmlns:a="http://schemas.openxmlformats.org/drawingml/2006/main">
              <a:ext uri="{FF2B5EF4-FFF2-40B4-BE49-F238E27FC236}">
                <a16:creationId xmlns:a16="http://schemas.microsoft.com/office/drawing/2014/main" id="{1F50318A-766A-484A-B2C8-8315011F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800600"/>
            <a:ext cx="1647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机械臂端</a:t>
            </a:r>
          </a:p>
        </p:txBody>
      </p:sp>
      <p:sp>
        <p:nvSpPr>
          <p:cNvPr id="34" name="端侧重点2">
            <a:extLst xmlns:a="http://schemas.openxmlformats.org/drawingml/2006/main">
              <a:ext uri="{FF2B5EF4-FFF2-40B4-BE49-F238E27FC236}">
                <a16:creationId xmlns:a16="http://schemas.microsoft.com/office/drawing/2014/main" id="{1A7653DC-33AF-4594-81EE-51307627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153025"/>
            <a:ext cx="1647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实时性/控制周期</a:t>
            </a:r>
          </a:p>
        </p:txBody>
      </p:sp>
      <p:sp>
        <p:nvSpPr>
          <p:cNvPr id="35" name="端侧重点背景3">
            <a:extLst xmlns:a="http://schemas.openxmlformats.org/drawingml/2006/main">
              <a:ext uri="{FF2B5EF4-FFF2-40B4-BE49-F238E27FC236}">
                <a16:creationId xmlns:a16="http://schemas.microsoft.com/office/drawing/2014/main" id="{17854644-F8CF-4E4D-AAEA-4075617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733925"/>
            <a:ext cx="2819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0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端侧名称3">
            <a:extLst xmlns:a="http://schemas.openxmlformats.org/drawingml/2006/main">
              <a:ext uri="{FF2B5EF4-FFF2-40B4-BE49-F238E27FC236}">
                <a16:creationId xmlns:a16="http://schemas.microsoft.com/office/drawing/2014/main" id="{CBFAAD82-8DC3-4775-AE57-3ADE8E4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800600"/>
            <a:ext cx="168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终端</a:t>
            </a:r>
          </a:p>
        </p:txBody>
      </p:sp>
      <p:sp>
        <p:nvSpPr>
          <p:cNvPr id="37" name="端侧重点3">
            <a:extLst xmlns:a="http://schemas.openxmlformats.org/drawingml/2006/main">
              <a:ext uri="{FF2B5EF4-FFF2-40B4-BE49-F238E27FC236}">
                <a16:creationId xmlns:a16="http://schemas.microsoft.com/office/drawing/2014/main" id="{AF52F1BD-D00E-432E-9783-B9788C80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153025"/>
            <a:ext cx="1685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端侧推理/功耗</a:t>
            </a:r>
          </a:p>
        </p:txBody>
      </p:sp>
      <p:sp>
        <p:nvSpPr>
          <p:cNvPr id="38" name="服务器图形机箱1">
            <a:extLst xmlns:a="http://schemas.openxmlformats.org/drawingml/2006/main">
              <a:ext uri="{FF2B5EF4-FFF2-40B4-BE49-F238E27FC236}">
                <a16:creationId xmlns:a16="http://schemas.microsoft.com/office/drawing/2014/main" id="{351BB4DC-F9CD-408E-AF76-94C5016A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409575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服务器图形灯1">
            <a:extLst xmlns:a="http://schemas.openxmlformats.org/drawingml/2006/main">
              <a:ext uri="{FF2B5EF4-FFF2-40B4-BE49-F238E27FC236}">
                <a16:creationId xmlns:a16="http://schemas.microsoft.com/office/drawing/2014/main" id="{5FD88786-15F7-4FE9-B9F4-6549D207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33950"/>
            <a:ext cx="66675" cy="285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服务器图形机箱2">
            <a:extLst xmlns:a="http://schemas.openxmlformats.org/drawingml/2006/main">
              <a:ext uri="{FF2B5EF4-FFF2-40B4-BE49-F238E27FC236}">
                <a16:creationId xmlns:a16="http://schemas.microsoft.com/office/drawing/2014/main" id="{650382C3-8006-4E4F-8EB3-E25FED9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48250"/>
            <a:ext cx="409575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服务器图形灯2">
            <a:extLst xmlns:a="http://schemas.openxmlformats.org/drawingml/2006/main">
              <a:ext uri="{FF2B5EF4-FFF2-40B4-BE49-F238E27FC236}">
                <a16:creationId xmlns:a16="http://schemas.microsoft.com/office/drawing/2014/main" id="{C4C33F07-C233-4746-9773-E3F5D4EB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86350"/>
            <a:ext cx="66675" cy="285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服务器图形机箱3">
            <a:extLst xmlns:a="http://schemas.openxmlformats.org/drawingml/2006/main">
              <a:ext uri="{FF2B5EF4-FFF2-40B4-BE49-F238E27FC236}">
                <a16:creationId xmlns:a16="http://schemas.microsoft.com/office/drawing/2014/main" id="{134AF556-BF38-43E9-A3A9-7B6AD8AB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00650"/>
            <a:ext cx="409575" cy="1143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服务器图形灯3">
            <a:extLst xmlns:a="http://schemas.openxmlformats.org/drawingml/2006/main">
              <a:ext uri="{FF2B5EF4-FFF2-40B4-BE49-F238E27FC236}">
                <a16:creationId xmlns:a16="http://schemas.microsoft.com/office/drawing/2014/main" id="{682D4193-25E5-40B7-8204-1DDA9422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38750"/>
            <a:ext cx="66675" cy="285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机械臂底座">
            <a:extLst xmlns:a="http://schemas.openxmlformats.org/drawingml/2006/main">
              <a:ext uri="{FF2B5EF4-FFF2-40B4-BE49-F238E27FC236}">
                <a16:creationId xmlns:a16="http://schemas.microsoft.com/office/drawing/2014/main" id="{14DC7E7D-D562-40FA-81D1-684D2E23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24475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机械臂竖柱">
            <a:extLst xmlns:a="http://schemas.openxmlformats.org/drawingml/2006/main">
              <a:ext uri="{FF2B5EF4-FFF2-40B4-BE49-F238E27FC236}">
                <a16:creationId xmlns:a16="http://schemas.microsoft.com/office/drawing/2014/main" id="{DDA68ED0-61D3-4922-95F9-DFD0E722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006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机械臂下臂">
            <a:extLst xmlns:a="http://schemas.openxmlformats.org/drawingml/2006/main">
              <a:ext uri="{FF2B5EF4-FFF2-40B4-BE49-F238E27FC236}">
                <a16:creationId xmlns:a16="http://schemas.microsoft.com/office/drawing/2014/main" id="{0EB81040-6176-4D58-80A8-0E3CEC67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33950"/>
            <a:ext cx="371475" cy="352425"/>
          </a:xfrm>
          <a:custGeom xmlns:a="http://schemas.openxmlformats.org/drawingml/2006/main">
            <a:pathLst>
              <a:path w="371475" h="352425">
                <a:moveTo>
                  <a:pt x="19050" y="76200"/>
                </a:moveTo>
                <a:lnTo>
                  <a:pt x="114300" y="9525"/>
                </a:lnTo>
                <a:lnTo>
                  <a:pt x="361950" y="266700"/>
                </a:lnTo>
                <a:lnTo>
                  <a:pt x="266700" y="352425"/>
                </a:lnTo>
                <a:close/>
              </a:path>
            </a:pathLst>
          </a:cu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机械臂上臂">
            <a:extLst xmlns:a="http://schemas.openxmlformats.org/drawingml/2006/main">
              <a:ext uri="{FF2B5EF4-FFF2-40B4-BE49-F238E27FC236}">
                <a16:creationId xmlns:a16="http://schemas.microsoft.com/office/drawing/2014/main" id="{143A44F3-2323-4776-9513-8CA6580C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81550"/>
            <a:ext cx="381000" cy="314325"/>
          </a:xfrm>
          <a:custGeom xmlns:a="http://schemas.openxmlformats.org/drawingml/2006/main">
            <a:pathLst>
              <a:path w="381000" h="314325">
                <a:moveTo>
                  <a:pt x="0" y="180975"/>
                </a:moveTo>
                <a:lnTo>
                  <a:pt x="257175" y="0"/>
                </a:lnTo>
                <a:lnTo>
                  <a:pt x="323850" y="76200"/>
                </a:lnTo>
                <a:lnTo>
                  <a:pt x="95250" y="276225"/>
                </a:lnTo>
                <a:close/>
              </a:path>
            </a:pathLst>
          </a:cu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机械臂关节1">
            <a:extLst xmlns:a="http://schemas.openxmlformats.org/drawingml/2006/main">
              <a:ext uri="{FF2B5EF4-FFF2-40B4-BE49-F238E27FC236}">
                <a16:creationId xmlns:a16="http://schemas.microsoft.com/office/drawing/2014/main" id="{DB61A16E-49A9-4F8D-8841-9D9C450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53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机械臂关节1内圈">
            <a:extLst xmlns:a="http://schemas.openxmlformats.org/drawingml/2006/main">
              <a:ext uri="{FF2B5EF4-FFF2-40B4-BE49-F238E27FC236}">
                <a16:creationId xmlns:a16="http://schemas.microsoft.com/office/drawing/2014/main" id="{37723CEA-C099-485C-B25C-C2063998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000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机械臂关节2">
            <a:extLst xmlns:a="http://schemas.openxmlformats.org/drawingml/2006/main">
              <a:ext uri="{FF2B5EF4-FFF2-40B4-BE49-F238E27FC236}">
                <a16:creationId xmlns:a16="http://schemas.microsoft.com/office/drawing/2014/main" id="{E3F7BE7B-717D-4D03-95C2-83AE085E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81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机械臂关节2内圈">
            <a:extLst xmlns:a="http://schemas.openxmlformats.org/drawingml/2006/main">
              <a:ext uri="{FF2B5EF4-FFF2-40B4-BE49-F238E27FC236}">
                <a16:creationId xmlns:a16="http://schemas.microsoft.com/office/drawing/2014/main" id="{58B93096-0B9F-4DE3-810E-A9EFF6CD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机械臂夹爪">
            <a:extLst xmlns:a="http://schemas.openxmlformats.org/drawingml/2006/main">
              <a:ext uri="{FF2B5EF4-FFF2-40B4-BE49-F238E27FC236}">
                <a16:creationId xmlns:a16="http://schemas.microsoft.com/office/drawing/2014/main" id="{8BE0C180-4F47-44B4-80A6-C05B511E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196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0"/>
                </a:moveTo>
                <a:lnTo>
                  <a:pt x="180975" y="66675"/>
                </a:lnTo>
                <a:lnTo>
                  <a:pt x="219075" y="171450"/>
                </a:lnTo>
                <a:lnTo>
                  <a:pt x="152400" y="219075"/>
                </a:lnTo>
                <a:lnTo>
                  <a:pt x="85725" y="13335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芯片外框">
            <a:extLst xmlns:a="http://schemas.openxmlformats.org/drawingml/2006/main">
              <a:ext uri="{FF2B5EF4-FFF2-40B4-BE49-F238E27FC236}">
                <a16:creationId xmlns:a16="http://schemas.microsoft.com/office/drawing/2014/main" id="{62EC6F49-164E-42CD-9F7A-645A1875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芯片内框">
            <a:extLst xmlns:a="http://schemas.openxmlformats.org/drawingml/2006/main">
              <a:ext uri="{FF2B5EF4-FFF2-40B4-BE49-F238E27FC236}">
                <a16:creationId xmlns:a16="http://schemas.microsoft.com/office/drawing/2014/main" id="{D478EDB5-0462-474E-A154-A7E56632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000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芯片芯核">
            <a:extLst xmlns:a="http://schemas.openxmlformats.org/drawingml/2006/main">
              <a:ext uri="{FF2B5EF4-FFF2-40B4-BE49-F238E27FC236}">
                <a16:creationId xmlns:a16="http://schemas.microsoft.com/office/drawing/2014/main" id="{B5E29D3E-47A1-4C0E-BD98-641FF8A4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057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芯片左引脚0">
            <a:extLst xmlns:a="http://schemas.openxmlformats.org/drawingml/2006/main">
              <a:ext uri="{FF2B5EF4-FFF2-40B4-BE49-F238E27FC236}">
                <a16:creationId xmlns:a16="http://schemas.microsoft.com/office/drawing/2014/main" id="{FE065973-14C0-4BC8-957C-6E787088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9530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芯片右引脚0">
            <a:extLst xmlns:a="http://schemas.openxmlformats.org/drawingml/2006/main">
              <a:ext uri="{FF2B5EF4-FFF2-40B4-BE49-F238E27FC236}">
                <a16:creationId xmlns:a16="http://schemas.microsoft.com/office/drawing/2014/main" id="{73A9A2F5-9C0B-4895-B869-DFC4D67C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9530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芯片上引脚0">
            <a:extLst xmlns:a="http://schemas.openxmlformats.org/drawingml/2006/main">
              <a:ext uri="{FF2B5EF4-FFF2-40B4-BE49-F238E27FC236}">
                <a16:creationId xmlns:a16="http://schemas.microsoft.com/office/drawing/2014/main" id="{534463C7-E92E-497D-9B3F-7EB1F8F8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48482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芯片下引脚0">
            <a:extLst xmlns:a="http://schemas.openxmlformats.org/drawingml/2006/main">
              <a:ext uri="{FF2B5EF4-FFF2-40B4-BE49-F238E27FC236}">
                <a16:creationId xmlns:a16="http://schemas.microsoft.com/office/drawing/2014/main" id="{C89637B0-2883-4841-8B8E-E509AE66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52673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芯片左引脚1">
            <a:extLst xmlns:a="http://schemas.openxmlformats.org/drawingml/2006/main">
              <a:ext uri="{FF2B5EF4-FFF2-40B4-BE49-F238E27FC236}">
                <a16:creationId xmlns:a16="http://schemas.microsoft.com/office/drawing/2014/main" id="{B5FCF2A7-4D82-4CEC-B83E-95173959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0387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芯片右引脚1">
            <a:extLst xmlns:a="http://schemas.openxmlformats.org/drawingml/2006/main">
              <a:ext uri="{FF2B5EF4-FFF2-40B4-BE49-F238E27FC236}">
                <a16:creationId xmlns:a16="http://schemas.microsoft.com/office/drawing/2014/main" id="{A45C0C0A-0AB8-4F86-B485-302F6601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0387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芯片上引脚1">
            <a:extLst xmlns:a="http://schemas.openxmlformats.org/drawingml/2006/main">
              <a:ext uri="{FF2B5EF4-FFF2-40B4-BE49-F238E27FC236}">
                <a16:creationId xmlns:a16="http://schemas.microsoft.com/office/drawing/2014/main" id="{84E312F1-7986-4059-BD95-AD508E49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8482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芯片下引脚1">
            <a:extLst xmlns:a="http://schemas.openxmlformats.org/drawingml/2006/main">
              <a:ext uri="{FF2B5EF4-FFF2-40B4-BE49-F238E27FC236}">
                <a16:creationId xmlns:a16="http://schemas.microsoft.com/office/drawing/2014/main" id="{35C3B542-4CB2-4049-914A-E5B4F952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2673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芯片左引脚2">
            <a:extLst xmlns:a="http://schemas.openxmlformats.org/drawingml/2006/main">
              <a:ext uri="{FF2B5EF4-FFF2-40B4-BE49-F238E27FC236}">
                <a16:creationId xmlns:a16="http://schemas.microsoft.com/office/drawing/2014/main" id="{49EA433E-D6B4-43DA-9562-A953C181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12445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芯片右引脚2">
            <a:extLst xmlns:a="http://schemas.openxmlformats.org/drawingml/2006/main">
              <a:ext uri="{FF2B5EF4-FFF2-40B4-BE49-F238E27FC236}">
                <a16:creationId xmlns:a16="http://schemas.microsoft.com/office/drawing/2014/main" id="{A5D653AA-A2E7-4834-B4FE-0BFBC1FF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12445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芯片上引脚2">
            <a:extLst xmlns:a="http://schemas.openxmlformats.org/drawingml/2006/main">
              <a:ext uri="{FF2B5EF4-FFF2-40B4-BE49-F238E27FC236}">
                <a16:creationId xmlns:a16="http://schemas.microsoft.com/office/drawing/2014/main" id="{5874D486-8C06-40A2-B3C9-E4EB1B0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48482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芯片下引脚2">
            <a:extLst xmlns:a="http://schemas.openxmlformats.org/drawingml/2006/main">
              <a:ext uri="{FF2B5EF4-FFF2-40B4-BE49-F238E27FC236}">
                <a16:creationId xmlns:a16="http://schemas.microsoft.com/office/drawing/2014/main" id="{CA3A8ACB-C2AF-4CA5-8ACB-D5E5F5F1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52673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芯片左引脚3">
            <a:extLst xmlns:a="http://schemas.openxmlformats.org/drawingml/2006/main">
              <a:ext uri="{FF2B5EF4-FFF2-40B4-BE49-F238E27FC236}">
                <a16:creationId xmlns:a16="http://schemas.microsoft.com/office/drawing/2014/main" id="{2D72A4D8-62C9-4CBC-BD7F-49B52DA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21017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芯片右引脚3">
            <a:extLst xmlns:a="http://schemas.openxmlformats.org/drawingml/2006/main">
              <a:ext uri="{FF2B5EF4-FFF2-40B4-BE49-F238E27FC236}">
                <a16:creationId xmlns:a16="http://schemas.microsoft.com/office/drawing/2014/main" id="{6141736E-BDD1-4868-87C6-7519D5A4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21017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芯片上引脚3">
            <a:extLst xmlns:a="http://schemas.openxmlformats.org/drawingml/2006/main">
              <a:ext uri="{FF2B5EF4-FFF2-40B4-BE49-F238E27FC236}">
                <a16:creationId xmlns:a16="http://schemas.microsoft.com/office/drawing/2014/main" id="{866B5FC9-1209-4FD5-B13A-13B2B6B7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8482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芯片下引脚3">
            <a:extLst xmlns:a="http://schemas.openxmlformats.org/drawingml/2006/main">
              <a:ext uri="{FF2B5EF4-FFF2-40B4-BE49-F238E27FC236}">
                <a16:creationId xmlns:a16="http://schemas.microsoft.com/office/drawing/2014/main" id="{4904ED97-11D3-46C9-9F3F-7E51EB6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26732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性能闭环步骤底板1">
            <a:extLst xmlns:a="http://schemas.openxmlformats.org/drawingml/2006/main">
              <a:ext uri="{FF2B5EF4-FFF2-40B4-BE49-F238E27FC236}">
                <a16:creationId xmlns:a16="http://schemas.microsoft.com/office/drawing/2014/main" id="{18BCBC3C-1FBD-4B73-A600-1BC265D0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657850"/>
            <a:ext cx="2276475" cy="447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性能闭环步骤文字1">
            <a:extLst xmlns:a="http://schemas.openxmlformats.org/drawingml/2006/main">
              <a:ext uri="{FF2B5EF4-FFF2-40B4-BE49-F238E27FC236}">
                <a16:creationId xmlns:a16="http://schemas.microsoft.com/office/drawing/2014/main" id="{50E39B8C-BA35-4733-95D6-E78AE45F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5667375"/>
            <a:ext cx="2124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多源采集</a:t>
            </a:r>
          </a:p>
        </p:txBody>
      </p:sp>
      <p:sp>
        <p:nvSpPr>
          <p:cNvPr id="74" name="性能闭环步骤底板2">
            <a:extLst xmlns:a="http://schemas.openxmlformats.org/drawingml/2006/main">
              <a:ext uri="{FF2B5EF4-FFF2-40B4-BE49-F238E27FC236}">
                <a16:creationId xmlns:a16="http://schemas.microsoft.com/office/drawing/2014/main" id="{59582C82-A327-4909-8D3B-ED1A42F9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57850"/>
            <a:ext cx="2181225" cy="447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性能闭环步骤文字2">
            <a:extLst xmlns:a="http://schemas.openxmlformats.org/drawingml/2006/main">
              <a:ext uri="{FF2B5EF4-FFF2-40B4-BE49-F238E27FC236}">
                <a16:creationId xmlns:a16="http://schemas.microsoft.com/office/drawing/2014/main" id="{7EA7E84E-0B99-4028-B6C2-2FE96448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67375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建模分析</a:t>
            </a:r>
          </a:p>
        </p:txBody>
      </p:sp>
      <p:sp>
        <p:nvSpPr>
          <p:cNvPr id="76" name="性能闭环步骤底板3">
            <a:extLst xmlns:a="http://schemas.openxmlformats.org/drawingml/2006/main">
              <a:ext uri="{FF2B5EF4-FFF2-40B4-BE49-F238E27FC236}">
                <a16:creationId xmlns:a16="http://schemas.microsoft.com/office/drawing/2014/main" id="{47C4A728-2618-4879-9C5E-67918B72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657850"/>
            <a:ext cx="2200275" cy="447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性能闭环步骤文字3">
            <a:extLst xmlns:a="http://schemas.openxmlformats.org/drawingml/2006/main">
              <a:ext uri="{FF2B5EF4-FFF2-40B4-BE49-F238E27FC236}">
                <a16:creationId xmlns:a16="http://schemas.microsoft.com/office/drawing/2014/main" id="{B1D506F7-0FB9-4270-AD23-43F79B91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667375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9235C"/>
                </a:solidFill>
                <a:latin typeface="Noto Sans CJK SC"/>
                <a:ea typeface="Noto Sans CJK SC"/>
                <a:cs typeface="Noto Sans CJK SC"/>
              </a:rPr>
              <a:t>智能诊断</a:t>
            </a:r>
          </a:p>
        </p:txBody>
      </p:sp>
      <p:sp>
        <p:nvSpPr>
          <p:cNvPr id="78" name="流程箭头1">
            <a:extLst xmlns:a="http://schemas.openxmlformats.org/drawingml/2006/main">
              <a:ext uri="{FF2B5EF4-FFF2-40B4-BE49-F238E27FC236}">
                <a16:creationId xmlns:a16="http://schemas.microsoft.com/office/drawing/2014/main" id="{9130FF56-06B1-47FA-AC5D-A8DEE56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57850"/>
            <a:ext cx="3905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065E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065E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065EFF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79" name="流程箭头2">
            <a:extLst xmlns:a="http://schemas.openxmlformats.org/drawingml/2006/main">
              <a:ext uri="{FF2B5EF4-FFF2-40B4-BE49-F238E27FC236}">
                <a16:creationId xmlns:a16="http://schemas.microsoft.com/office/drawing/2014/main" id="{A1B34BAD-F8E3-49E8-9351-02E9B30C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57850"/>
            <a:ext cx="400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550" b="0">
                <a:solidFill>
                  <a:srgbClr val="065E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550" b="0">
                <a:solidFill>
                  <a:srgbClr val="065E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065EFF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80" name="性能闭环效果">
            <a:extLst xmlns:a="http://schemas.openxmlformats.org/drawingml/2006/main">
              <a:ext uri="{FF2B5EF4-FFF2-40B4-BE49-F238E27FC236}">
                <a16:creationId xmlns:a16="http://schemas.microsoft.com/office/drawing/2014/main" id="{87902FEC-B9E1-4B71-9E7A-C8C1A8CD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210300"/>
            <a:ext cx="871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88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88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88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构建端到端性能闭环，实现瓶颈自动定位与调优策略推荐</a:t>
            </a:r>
          </a:p>
        </p:txBody>
      </p:sp>
      <p:sp>
        <p:nvSpPr>
          <p:cNvPr id="81" name="优化与管控分隔线">
            <a:extLst xmlns:a="http://schemas.openxmlformats.org/drawingml/2006/main">
              <a:ext uri="{FF2B5EF4-FFF2-40B4-BE49-F238E27FC236}">
                <a16:creationId xmlns:a16="http://schemas.microsoft.com/office/drawing/2014/main" id="{D1A90388-5F30-40D9-A188-8D6B3220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743700"/>
            <a:ext cx="96393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算力管控内容标识">
            <a:extLst xmlns:a="http://schemas.openxmlformats.org/drawingml/2006/main">
              <a:ext uri="{FF2B5EF4-FFF2-40B4-BE49-F238E27FC236}">
                <a16:creationId xmlns:a16="http://schemas.microsoft.com/office/drawing/2014/main" id="{C0E1AA66-8BA6-4DCE-834D-B92D3B60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029450"/>
            <a:ext cx="152400" cy="115252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8A6BFF"/>
              </a:gs>
              <a:gs pos="100000">
                <a:srgbClr val="5443D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3" name="算力管控项目符号1">
            <a:extLst xmlns:a="http://schemas.openxmlformats.org/drawingml/2006/main">
              <a:ext uri="{FF2B5EF4-FFF2-40B4-BE49-F238E27FC236}">
                <a16:creationId xmlns:a16="http://schemas.microsoft.com/office/drawing/2014/main" id="{3EED1B8D-1F17-4A2F-A0F9-A6B23BC2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07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算力管控项目符号2">
            <a:extLst xmlns:a="http://schemas.openxmlformats.org/drawingml/2006/main">
              <a:ext uri="{FF2B5EF4-FFF2-40B4-BE49-F238E27FC236}">
                <a16:creationId xmlns:a16="http://schemas.microsoft.com/office/drawing/2014/main" id="{3062B992-07C5-43F4-92DB-6A353C47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52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算力管控_裸算力交付">
            <a:extLst xmlns:a="http://schemas.openxmlformats.org/drawingml/2006/main">
              <a:ext uri="{FF2B5EF4-FFF2-40B4-BE49-F238E27FC236}">
                <a16:creationId xmlns:a16="http://schemas.microsoft.com/office/drawing/2014/main" id="{427679C0-BC6E-480B-A226-D2233565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62775"/>
            <a:ext cx="824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独占模式提供物理隔离与性能可预期的裸算力交付；</a:t>
            </a:r>
          </a:p>
        </p:txBody>
      </p:sp>
      <p:sp>
        <p:nvSpPr>
          <p:cNvPr id="86" name="算力管控_逻辑隔离第一行">
            <a:extLst xmlns:a="http://schemas.openxmlformats.org/drawingml/2006/main">
              <a:ext uri="{FF2B5EF4-FFF2-40B4-BE49-F238E27FC236}">
                <a16:creationId xmlns:a16="http://schemas.microsoft.com/office/drawing/2014/main" id="{A85D8EED-1979-4886-A4D1-33BCB1F0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7419975"/>
            <a:ext cx="831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1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1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1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通过“配额隔离/显存分区/请求链路加密/租户分级审计”实现逻辑隔离及</a:t>
            </a:r>
          </a:p>
        </p:txBody>
      </p:sp>
      <p:sp>
        <p:nvSpPr>
          <p:cNvPr id="87" name="算力管控_逻辑隔离第二行">
            <a:extLst xmlns:a="http://schemas.openxmlformats.org/drawingml/2006/main">
              <a:ext uri="{FF2B5EF4-FFF2-40B4-BE49-F238E27FC236}">
                <a16:creationId xmlns:a16="http://schemas.microsoft.com/office/drawing/2014/main" id="{0DB06713-AC96-49B2-AFBA-BB93E522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7820025"/>
            <a:ext cx="831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1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1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13" b="0">
                <a:solidFill>
                  <a:srgbClr val="122344"/>
                </a:solidFill>
                <a:latin typeface="Noto Sans CJK SC"/>
                <a:ea typeface="Noto Sans CJK SC"/>
                <a:cs typeface="Noto Sans CJK SC"/>
              </a:rPr>
              <a:t>数据隐私安全保护，为不同SLA与合规等级的租户匹配差异化交付形态。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31C5D7-3395-4469-B8C7-8CDEC99BD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cfdeb14474d57"/>
          <a:stretch xmlns:a="http://schemas.openxmlformats.org/drawingml/2006/main"/>
        </p:blipFill>
        <p:spPr>
          <a:xfrm xmlns:a="http://schemas.openxmlformats.org/drawingml/2006/main">
            <a:off x="2747963" y="1390650"/>
            <a:ext cx="1200150" cy="600075"/>
          </a:xfrm>
          <a:prstGeom xmlns:a="http://schemas.openxmlformats.org/drawingml/2006/main" prst="rect">
            <a:avLst/>
          </a:prstGeom>
        </p:spPr>
      </p:pic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193283C-1AA2-4193-A504-8B3B5A24E9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d7dfe3eaa41b1"/>
          <a:stretch xmlns:a="http://schemas.openxmlformats.org/drawingml/2006/main"/>
        </p:blipFill>
        <p:spPr>
          <a:xfrm xmlns:a="http://schemas.openxmlformats.org/drawingml/2006/main">
            <a:off x="13235653" y="6286500"/>
            <a:ext cx="1608393" cy="20097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34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80975" dist="69343" dir="4443276">
              <a:srgbClr val="2E6FC3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2026-10-10T03:34:22.3600000Z</dcterms:created>
  <dcterms:modified xsi:type="dcterms:W3CDTF">2026-10-10T03:34:22.3600000Z</dcterms:modified>
</coreProperties>
</file>